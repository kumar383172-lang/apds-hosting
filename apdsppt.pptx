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ungee" charset="0"/>
      <p:regular r:id="rId10"/>
    </p:embeddedFont>
    <p:embeddedFont>
      <p:font typeface="Calibri" pitchFamily="34" charset="0"/>
      <p:regular r:id="rId11"/>
      <p:bold r:id="rId12"/>
      <p:italic r:id="rId13"/>
      <p:boldItalic r:id="rId14"/>
    </p:embeddedFont>
    <p:embeddedFont>
      <p:font typeface="Krub Bold" charset="-34"/>
      <p:regular r:id="rId15"/>
    </p:embeddedFont>
    <p:embeddedFont>
      <p:font typeface="Krub" charset="-3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p:scale>
          <a:sx n="70" d="100"/>
          <a:sy n="70" d="100"/>
        </p:scale>
        <p:origin x="206" y="4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900700" y="2807203"/>
            <a:ext cx="12458538" cy="3697872"/>
          </a:xfrm>
          <a:prstGeom prst="rect">
            <a:avLst/>
          </a:prstGeom>
        </p:spPr>
        <p:txBody>
          <a:bodyPr wrap="square" lIns="0" tIns="0" rIns="0" bIns="0" rtlCol="0" anchor="t">
            <a:spAutoFit/>
          </a:bodyPr>
          <a:lstStyle/>
          <a:p>
            <a:pPr marL="0" lvl="0" indent="0" algn="ctr">
              <a:lnSpc>
                <a:spcPts val="14018"/>
              </a:lnSpc>
            </a:pPr>
            <a:r>
              <a:rPr lang="en-US" sz="14452" dirty="0" smtClean="0">
                <a:solidFill>
                  <a:srgbClr val="090147"/>
                </a:solidFill>
                <a:latin typeface="Bungee"/>
                <a:ea typeface="Bungee"/>
                <a:cs typeface="Bungee"/>
                <a:sym typeface="Bungee"/>
              </a:rPr>
              <a:t>Advanced </a:t>
            </a:r>
            <a:r>
              <a:rPr lang="en-US" sz="14452" dirty="0">
                <a:solidFill>
                  <a:srgbClr val="090147"/>
                </a:solidFill>
                <a:latin typeface="Bungee"/>
                <a:ea typeface="Bungee"/>
                <a:cs typeface="Bungee"/>
                <a:sym typeface="Bungee"/>
              </a:rPr>
              <a:t>PDS</a:t>
            </a:r>
          </a:p>
        </p:txBody>
      </p:sp>
      <p:grpSp>
        <p:nvGrpSpPr>
          <p:cNvPr id="7" name="Group 7"/>
          <p:cNvGrpSpPr/>
          <p:nvPr/>
        </p:nvGrpSpPr>
        <p:grpSpPr>
          <a:xfrm>
            <a:off x="6534582" y="6859432"/>
            <a:ext cx="7250180" cy="1946943"/>
            <a:chOff x="0" y="0"/>
            <a:chExt cx="1909512" cy="512775"/>
          </a:xfrm>
        </p:grpSpPr>
        <p:sp>
          <p:nvSpPr>
            <p:cNvPr id="8" name="Freeform 8"/>
            <p:cNvSpPr/>
            <p:nvPr/>
          </p:nvSpPr>
          <p:spPr>
            <a:xfrm>
              <a:off x="0" y="0"/>
              <a:ext cx="1909512" cy="512775"/>
            </a:xfrm>
            <a:custGeom>
              <a:avLst/>
              <a:gdLst/>
              <a:ahLst/>
              <a:cxnLst/>
              <a:rect l="l" t="t" r="r" b="b"/>
              <a:pathLst>
                <a:path w="1909512" h="512775">
                  <a:moveTo>
                    <a:pt x="54059" y="0"/>
                  </a:moveTo>
                  <a:lnTo>
                    <a:pt x="1855454" y="0"/>
                  </a:lnTo>
                  <a:cubicBezTo>
                    <a:pt x="1885310" y="0"/>
                    <a:pt x="1909512" y="24203"/>
                    <a:pt x="1909512" y="54059"/>
                  </a:cubicBezTo>
                  <a:lnTo>
                    <a:pt x="1909512" y="458716"/>
                  </a:lnTo>
                  <a:cubicBezTo>
                    <a:pt x="1909512" y="473054"/>
                    <a:pt x="1903817" y="486804"/>
                    <a:pt x="1893679" y="496942"/>
                  </a:cubicBezTo>
                  <a:cubicBezTo>
                    <a:pt x="1883541" y="507080"/>
                    <a:pt x="1869791" y="512775"/>
                    <a:pt x="1855454" y="512775"/>
                  </a:cubicBezTo>
                  <a:lnTo>
                    <a:pt x="54059" y="512775"/>
                  </a:lnTo>
                  <a:cubicBezTo>
                    <a:pt x="39721" y="512775"/>
                    <a:pt x="25971" y="507080"/>
                    <a:pt x="15833" y="496942"/>
                  </a:cubicBezTo>
                  <a:cubicBezTo>
                    <a:pt x="5695" y="486804"/>
                    <a:pt x="0" y="473054"/>
                    <a:pt x="0" y="458716"/>
                  </a:cubicBezTo>
                  <a:lnTo>
                    <a:pt x="0" y="54059"/>
                  </a:lnTo>
                  <a:cubicBezTo>
                    <a:pt x="0" y="24203"/>
                    <a:pt x="24203" y="0"/>
                    <a:pt x="54059" y="0"/>
                  </a:cubicBezTo>
                  <a:close/>
                </a:path>
              </a:pathLst>
            </a:custGeom>
            <a:gradFill rotWithShape="1">
              <a:gsLst>
                <a:gs pos="0">
                  <a:srgbClr val="2D8BBA">
                    <a:alpha val="100000"/>
                  </a:srgbClr>
                </a:gs>
                <a:gs pos="100000">
                  <a:srgbClr val="192385">
                    <a:alpha val="100000"/>
                  </a:srgbClr>
                </a:gs>
              </a:gsLst>
              <a:lin ang="0"/>
            </a:gradFill>
          </p:spPr>
        </p:sp>
        <p:sp>
          <p:nvSpPr>
            <p:cNvPr id="9" name="TextBox 9"/>
            <p:cNvSpPr txBox="1"/>
            <p:nvPr/>
          </p:nvSpPr>
          <p:spPr>
            <a:xfrm>
              <a:off x="0" y="-38100"/>
              <a:ext cx="1909512" cy="55087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6534582" y="7525573"/>
            <a:ext cx="6898332" cy="321801"/>
          </a:xfrm>
          <a:prstGeom prst="rect">
            <a:avLst/>
          </a:prstGeom>
        </p:spPr>
        <p:txBody>
          <a:bodyPr lIns="0" tIns="0" rIns="0" bIns="0" rtlCol="0" anchor="t">
            <a:spAutoFit/>
          </a:bodyPr>
          <a:lstStyle/>
          <a:p>
            <a:pPr marL="0" lvl="0" indent="0" algn="ctr">
              <a:lnSpc>
                <a:spcPts val="2611"/>
              </a:lnSpc>
            </a:pPr>
            <a:r>
              <a:rPr lang="en-US" sz="1865" b="1" spc="20">
                <a:solidFill>
                  <a:srgbClr val="FFFFFF"/>
                </a:solidFill>
                <a:latin typeface="Krub Bold"/>
                <a:ea typeface="Krub Bold"/>
                <a:cs typeface="Krub Bold"/>
                <a:sym typeface="Krub Bold"/>
              </a:rPr>
              <a:t>A Transparent &amp; Improved Public Distribution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85241" y="1042349"/>
            <a:ext cx="10517519" cy="1028534"/>
          </a:xfrm>
          <a:prstGeom prst="rect">
            <a:avLst/>
          </a:prstGeom>
        </p:spPr>
        <p:txBody>
          <a:bodyPr lIns="0" tIns="0" rIns="0" bIns="0" rtlCol="0" anchor="t">
            <a:spAutoFit/>
          </a:bodyPr>
          <a:lstStyle/>
          <a:p>
            <a:pPr marL="0" lvl="0" indent="0" algn="ctr">
              <a:lnSpc>
                <a:spcPts val="6636"/>
              </a:lnSpc>
            </a:pPr>
            <a:r>
              <a:rPr lang="en-US" sz="6842">
                <a:solidFill>
                  <a:srgbClr val="090147"/>
                </a:solidFill>
                <a:latin typeface="Bungee"/>
                <a:ea typeface="Bungee"/>
                <a:cs typeface="Bungee"/>
                <a:sym typeface="Bungee"/>
              </a:rPr>
              <a:t>Project Overview</a:t>
            </a:r>
          </a:p>
        </p:txBody>
      </p:sp>
      <p:grpSp>
        <p:nvGrpSpPr>
          <p:cNvPr id="3" name="Group 3"/>
          <p:cNvGrpSpPr/>
          <p:nvPr/>
        </p:nvGrpSpPr>
        <p:grpSpPr>
          <a:xfrm>
            <a:off x="1461917" y="2710917"/>
            <a:ext cx="5271005" cy="5133871"/>
            <a:chOff x="0" y="0"/>
            <a:chExt cx="1388248" cy="1352131"/>
          </a:xfrm>
        </p:grpSpPr>
        <p:sp>
          <p:nvSpPr>
            <p:cNvPr id="4" name="Freeform 4"/>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7238562" y="2710917"/>
            <a:ext cx="9071109" cy="5133871"/>
            <a:chOff x="0" y="0"/>
            <a:chExt cx="2389099" cy="1352131"/>
          </a:xfrm>
        </p:grpSpPr>
        <p:sp>
          <p:nvSpPr>
            <p:cNvPr id="8" name="Freeform 8"/>
            <p:cNvSpPr/>
            <p:nvPr/>
          </p:nvSpPr>
          <p:spPr>
            <a:xfrm>
              <a:off x="0" y="0"/>
              <a:ext cx="2389099" cy="1352131"/>
            </a:xfrm>
            <a:custGeom>
              <a:avLst/>
              <a:gdLst/>
              <a:ahLst/>
              <a:cxnLst/>
              <a:rect l="l" t="t" r="r" b="b"/>
              <a:pathLst>
                <a:path w="2389099" h="1352131">
                  <a:moveTo>
                    <a:pt x="43207" y="0"/>
                  </a:moveTo>
                  <a:lnTo>
                    <a:pt x="2345892" y="0"/>
                  </a:lnTo>
                  <a:cubicBezTo>
                    <a:pt x="2357351" y="0"/>
                    <a:pt x="2368341" y="4552"/>
                    <a:pt x="2376444" y="12655"/>
                  </a:cubicBezTo>
                  <a:cubicBezTo>
                    <a:pt x="2384547" y="20758"/>
                    <a:pt x="2389099" y="31748"/>
                    <a:pt x="2389099" y="43207"/>
                  </a:cubicBezTo>
                  <a:lnTo>
                    <a:pt x="2389099" y="1308924"/>
                  </a:lnTo>
                  <a:cubicBezTo>
                    <a:pt x="2389099" y="1320383"/>
                    <a:pt x="2384547" y="1331373"/>
                    <a:pt x="2376444" y="1339476"/>
                  </a:cubicBezTo>
                  <a:cubicBezTo>
                    <a:pt x="2368341" y="1347579"/>
                    <a:pt x="2357351" y="1352131"/>
                    <a:pt x="2345892" y="1352131"/>
                  </a:cubicBezTo>
                  <a:lnTo>
                    <a:pt x="43207" y="1352131"/>
                  </a:lnTo>
                  <a:cubicBezTo>
                    <a:pt x="31748" y="1352131"/>
                    <a:pt x="20758" y="1347579"/>
                    <a:pt x="12655" y="1339476"/>
                  </a:cubicBezTo>
                  <a:cubicBezTo>
                    <a:pt x="4552" y="1331373"/>
                    <a:pt x="0" y="1320383"/>
                    <a:pt x="0" y="1308924"/>
                  </a:cubicBezTo>
                  <a:lnTo>
                    <a:pt x="0" y="43207"/>
                  </a:lnTo>
                  <a:cubicBezTo>
                    <a:pt x="0" y="31748"/>
                    <a:pt x="4552" y="20758"/>
                    <a:pt x="12655" y="12655"/>
                  </a:cubicBezTo>
                  <a:cubicBezTo>
                    <a:pt x="20758" y="4552"/>
                    <a:pt x="31748" y="0"/>
                    <a:pt x="43207"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id="9" name="TextBox 9"/>
            <p:cNvSpPr txBox="1"/>
            <p:nvPr/>
          </p:nvSpPr>
          <p:spPr>
            <a:xfrm>
              <a:off x="0" y="-38100"/>
              <a:ext cx="2389099" cy="139023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1983545" y="3522019"/>
            <a:ext cx="4083401" cy="2707403"/>
          </a:xfrm>
          <a:prstGeom prst="rect">
            <a:avLst/>
          </a:prstGeom>
        </p:spPr>
        <p:txBody>
          <a:bodyPr lIns="0" tIns="0" rIns="0" bIns="0" rtlCol="0" anchor="t">
            <a:spAutoFit/>
          </a:bodyPr>
          <a:lstStyle/>
          <a:p>
            <a:pPr marL="0" lvl="0" indent="0" algn="l">
              <a:lnSpc>
                <a:spcPts val="1973"/>
              </a:lnSpc>
            </a:pPr>
            <a:r>
              <a:rPr lang="en-US" sz="1409" spc="15">
                <a:solidFill>
                  <a:srgbClr val="FFFFFF"/>
                </a:solidFill>
                <a:latin typeface="Krub"/>
                <a:ea typeface="Krub"/>
                <a:cs typeface="Krub"/>
                <a:sym typeface="Krub"/>
              </a:rPr>
              <a:t>Current PDS Challenges</a:t>
            </a:r>
          </a:p>
          <a:p>
            <a:pPr marL="0" lvl="0" indent="0" algn="l">
              <a:lnSpc>
                <a:spcPts val="1973"/>
              </a:lnSpc>
            </a:pPr>
            <a:r>
              <a:rPr lang="en-US" sz="1409" spc="15">
                <a:solidFill>
                  <a:srgbClr val="FFFFFF"/>
                </a:solidFill>
                <a:latin typeface="Krub"/>
                <a:ea typeface="Krub"/>
                <a:cs typeface="Krub"/>
                <a:sym typeface="Krub"/>
              </a:rPr>
              <a:t>• Manual record-keeping prone to errors and fraud</a:t>
            </a:r>
          </a:p>
          <a:p>
            <a:pPr marL="0" lvl="0" indent="0" algn="l">
              <a:lnSpc>
                <a:spcPts val="1973"/>
              </a:lnSpc>
            </a:pPr>
            <a:r>
              <a:rPr lang="en-US" sz="1409" spc="15">
                <a:solidFill>
                  <a:srgbClr val="FFFFFF"/>
                </a:solidFill>
                <a:latin typeface="Krub"/>
                <a:ea typeface="Krub"/>
                <a:cs typeface="Krub"/>
                <a:sym typeface="Krub"/>
              </a:rPr>
              <a:t>• Lack of real-time tracking of food grain distribution</a:t>
            </a:r>
          </a:p>
          <a:p>
            <a:pPr marL="0" lvl="0" indent="0" algn="l">
              <a:lnSpc>
                <a:spcPts val="1973"/>
              </a:lnSpc>
            </a:pPr>
            <a:r>
              <a:rPr lang="en-US" sz="1409" spc="15">
                <a:solidFill>
                  <a:srgbClr val="FFFFFF"/>
                </a:solidFill>
                <a:latin typeface="Krub"/>
                <a:ea typeface="Krub"/>
                <a:cs typeface="Krub"/>
                <a:sym typeface="Krub"/>
              </a:rPr>
              <a:t>• Duplicate and ghost beneficiaries in the system</a:t>
            </a:r>
          </a:p>
          <a:p>
            <a:pPr marL="0" lvl="0" indent="0" algn="l">
              <a:lnSpc>
                <a:spcPts val="1973"/>
              </a:lnSpc>
            </a:pPr>
            <a:r>
              <a:rPr lang="en-US" sz="1409" spc="15">
                <a:solidFill>
                  <a:srgbClr val="FFFFFF"/>
                </a:solidFill>
                <a:latin typeface="Krub"/>
                <a:ea typeface="Krub"/>
                <a:cs typeface="Krub"/>
                <a:sym typeface="Krub"/>
              </a:rPr>
              <a:t>• Limited transparency in supply chain operations</a:t>
            </a:r>
          </a:p>
          <a:p>
            <a:pPr marL="0" lvl="0" indent="0" algn="l">
              <a:lnSpc>
                <a:spcPts val="1973"/>
              </a:lnSpc>
            </a:pPr>
            <a:r>
              <a:rPr lang="en-US" sz="1409" spc="15">
                <a:solidFill>
                  <a:srgbClr val="FFFFFF"/>
                </a:solidFill>
                <a:latin typeface="Krub"/>
                <a:ea typeface="Krub"/>
                <a:cs typeface="Krub"/>
                <a:sym typeface="Krub"/>
              </a:rPr>
              <a:t>• Inefficient grievance redressal mechanisms</a:t>
            </a:r>
          </a:p>
          <a:p>
            <a:pPr marL="0" lvl="0" indent="0" algn="l">
              <a:lnSpc>
                <a:spcPts val="1973"/>
              </a:lnSpc>
            </a:pPr>
            <a:r>
              <a:rPr lang="en-US" sz="1409" spc="15">
                <a:solidFill>
                  <a:srgbClr val="FFFFFF"/>
                </a:solidFill>
                <a:latin typeface="Krub"/>
                <a:ea typeface="Krub"/>
                <a:cs typeface="Krub"/>
                <a:sym typeface="Krub"/>
              </a:rPr>
              <a:t>• No direct communication channel for farmers</a:t>
            </a:r>
          </a:p>
        </p:txBody>
      </p:sp>
      <p:sp>
        <p:nvSpPr>
          <p:cNvPr id="13" name="TextBox 13"/>
          <p:cNvSpPr txBox="1"/>
          <p:nvPr/>
        </p:nvSpPr>
        <p:spPr>
          <a:xfrm>
            <a:off x="7761466" y="3507732"/>
            <a:ext cx="8025299" cy="973853"/>
          </a:xfrm>
          <a:prstGeom prst="rect">
            <a:avLst/>
          </a:prstGeom>
        </p:spPr>
        <p:txBody>
          <a:bodyPr lIns="0" tIns="0" rIns="0" bIns="0" rtlCol="0" anchor="t">
            <a:spAutoFit/>
          </a:bodyPr>
          <a:lstStyle/>
          <a:p>
            <a:pPr marL="0" lvl="0" indent="0" algn="l">
              <a:lnSpc>
                <a:spcPts val="1973"/>
              </a:lnSpc>
            </a:pPr>
            <a:r>
              <a:rPr lang="en-US" sz="1409" spc="15">
                <a:solidFill>
                  <a:srgbClr val="090147"/>
                </a:solidFill>
                <a:latin typeface="Krub"/>
                <a:ea typeface="Krub"/>
                <a:cs typeface="Krub"/>
                <a:sym typeface="Krub"/>
              </a:rPr>
              <a:t>Advanced PDS Solution</a:t>
            </a:r>
          </a:p>
          <a:p>
            <a:pPr marL="0" lvl="0" indent="0" algn="l">
              <a:lnSpc>
                <a:spcPts val="1973"/>
              </a:lnSpc>
            </a:pPr>
            <a:r>
              <a:rPr lang="en-US" sz="1409" spc="15">
                <a:solidFill>
                  <a:srgbClr val="090147"/>
                </a:solidFill>
                <a:latin typeface="Krub"/>
                <a:ea typeface="Krub"/>
                <a:cs typeface="Krub"/>
                <a:sym typeface="Krub"/>
              </a:rPr>
              <a:t>Our digital platform revolutionizes the Public Distribution System through a transparent, efficient, and accountable web-based portal with four integrated modules serving all stakeholders.</a:t>
            </a:r>
          </a:p>
        </p:txBody>
      </p:sp>
      <p:sp>
        <p:nvSpPr>
          <p:cNvPr id="15" name="TextBox 15"/>
          <p:cNvSpPr txBox="1"/>
          <p:nvPr/>
        </p:nvSpPr>
        <p:spPr>
          <a:xfrm>
            <a:off x="7761466" y="5291434"/>
            <a:ext cx="8025299" cy="1716803"/>
          </a:xfrm>
          <a:prstGeom prst="rect">
            <a:avLst/>
          </a:prstGeom>
        </p:spPr>
        <p:txBody>
          <a:bodyPr lIns="0" tIns="0" rIns="0" bIns="0" rtlCol="0" anchor="t">
            <a:spAutoFit/>
          </a:bodyPr>
          <a:lstStyle/>
          <a:p>
            <a:pPr marL="0" lvl="0" indent="0" algn="l">
              <a:lnSpc>
                <a:spcPts val="1973"/>
              </a:lnSpc>
            </a:pPr>
            <a:r>
              <a:rPr lang="en-US" sz="1409" spc="15">
                <a:solidFill>
                  <a:srgbClr val="090147"/>
                </a:solidFill>
                <a:latin typeface="Krub"/>
                <a:ea typeface="Krub"/>
                <a:cs typeface="Krub"/>
                <a:sym typeface="Krub"/>
              </a:rPr>
              <a:t>Key Benefits</a:t>
            </a:r>
          </a:p>
          <a:p>
            <a:pPr marL="0" lvl="0" indent="0" algn="l">
              <a:lnSpc>
                <a:spcPts val="1973"/>
              </a:lnSpc>
            </a:pPr>
            <a:r>
              <a:rPr lang="en-US" sz="1409" spc="15">
                <a:solidFill>
                  <a:srgbClr val="090147"/>
                </a:solidFill>
                <a:latin typeface="Krub"/>
                <a:ea typeface="Krub"/>
                <a:cs typeface="Krub"/>
                <a:sym typeface="Krub"/>
              </a:rPr>
              <a:t>• Real-time tracking and complete transparency</a:t>
            </a:r>
          </a:p>
          <a:p>
            <a:pPr marL="0" lvl="0" indent="0" algn="l">
              <a:lnSpc>
                <a:spcPts val="1973"/>
              </a:lnSpc>
            </a:pPr>
            <a:r>
              <a:rPr lang="en-US" sz="1409" spc="15">
                <a:solidFill>
                  <a:srgbClr val="090147"/>
                </a:solidFill>
                <a:latin typeface="Krub"/>
                <a:ea typeface="Krub"/>
                <a:cs typeface="Krub"/>
                <a:sym typeface="Krub"/>
              </a:rPr>
              <a:t>• Biometric authentication eliminates fraud</a:t>
            </a:r>
          </a:p>
          <a:p>
            <a:pPr marL="0" lvl="0" indent="0" algn="l">
              <a:lnSpc>
                <a:spcPts val="1973"/>
              </a:lnSpc>
            </a:pPr>
            <a:r>
              <a:rPr lang="en-US" sz="1409" spc="15">
                <a:solidFill>
                  <a:srgbClr val="090147"/>
                </a:solidFill>
                <a:latin typeface="Krub"/>
                <a:ea typeface="Krub"/>
                <a:cs typeface="Krub"/>
                <a:sym typeface="Krub"/>
              </a:rPr>
              <a:t>• Digital records ensure accountability</a:t>
            </a:r>
          </a:p>
          <a:p>
            <a:pPr marL="0" lvl="0" indent="0" algn="l">
              <a:lnSpc>
                <a:spcPts val="1973"/>
              </a:lnSpc>
            </a:pPr>
            <a:r>
              <a:rPr lang="en-US" sz="1409" spc="15">
                <a:solidFill>
                  <a:srgbClr val="090147"/>
                </a:solidFill>
                <a:latin typeface="Krub"/>
                <a:ea typeface="Krub"/>
                <a:cs typeface="Krub"/>
                <a:sym typeface="Krub"/>
              </a:rPr>
              <a:t>• Dedicated Kisan Portal empowers farmers</a:t>
            </a:r>
          </a:p>
          <a:p>
            <a:pPr marL="0" lvl="0" indent="0" algn="l">
              <a:lnSpc>
                <a:spcPts val="1973"/>
              </a:lnSpc>
            </a:pPr>
            <a:r>
              <a:rPr lang="en-US" sz="1409" spc="15">
                <a:solidFill>
                  <a:srgbClr val="090147"/>
                </a:solidFill>
                <a:latin typeface="Krub"/>
                <a:ea typeface="Krub"/>
                <a:cs typeface="Krub"/>
                <a:sym typeface="Krub"/>
              </a:rPr>
              <a:t>• Streamlined beneficiary verification process</a:t>
            </a:r>
          </a:p>
          <a:p>
            <a:pPr marL="0" lvl="0" indent="0" algn="l">
              <a:lnSpc>
                <a:spcPts val="1973"/>
              </a:lnSpc>
            </a:pPr>
            <a:r>
              <a:rPr lang="en-US" sz="1409" spc="15">
                <a:solidFill>
                  <a:srgbClr val="090147"/>
                </a:solidFill>
                <a:latin typeface="Krub"/>
                <a:ea typeface="Krub"/>
                <a:cs typeface="Krub"/>
                <a:sym typeface="Krub"/>
              </a:rPr>
              <a:t>• Efficient dealer management and monitoring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465859"/>
            <a:ext cx="6545941" cy="605025"/>
          </a:xfrm>
          <a:prstGeom prst="rect">
            <a:avLst/>
          </a:prstGeom>
        </p:spPr>
        <p:txBody>
          <a:bodyPr lIns="0" tIns="0" rIns="0" bIns="0" rtlCol="0" anchor="t">
            <a:spAutoFit/>
          </a:bodyPr>
          <a:lstStyle/>
          <a:p>
            <a:pPr marL="0" lvl="0" indent="0" algn="ctr">
              <a:lnSpc>
                <a:spcPts val="3960"/>
              </a:lnSpc>
            </a:pPr>
            <a:r>
              <a:rPr lang="en-US" sz="4082">
                <a:solidFill>
                  <a:srgbClr val="090147"/>
                </a:solidFill>
                <a:latin typeface="Bungee"/>
                <a:ea typeface="Bungee"/>
                <a:cs typeface="Bungee"/>
                <a:sym typeface="Bungee"/>
              </a:rPr>
              <a:t>System Architecture</a:t>
            </a:r>
          </a:p>
        </p:txBody>
      </p:sp>
      <p:grpSp>
        <p:nvGrpSpPr>
          <p:cNvPr id="3" name="Group 3"/>
          <p:cNvGrpSpPr/>
          <p:nvPr/>
        </p:nvGrpSpPr>
        <p:grpSpPr>
          <a:xfrm>
            <a:off x="1461917" y="2710917"/>
            <a:ext cx="4056926" cy="5825221"/>
            <a:chOff x="0" y="0"/>
            <a:chExt cx="1068491" cy="1534215"/>
          </a:xfrm>
        </p:grpSpPr>
        <p:sp>
          <p:nvSpPr>
            <p:cNvPr id="4" name="Freeform 4"/>
            <p:cNvSpPr/>
            <p:nvPr/>
          </p:nvSpPr>
          <p:spPr>
            <a:xfrm>
              <a:off x="0" y="0"/>
              <a:ext cx="1068491" cy="1534215"/>
            </a:xfrm>
            <a:custGeom>
              <a:avLst/>
              <a:gdLst/>
              <a:ahLst/>
              <a:cxnLst/>
              <a:rect l="l" t="t" r="r" b="b"/>
              <a:pathLst>
                <a:path w="1068491" h="1534215">
                  <a:moveTo>
                    <a:pt x="96609" y="0"/>
                  </a:moveTo>
                  <a:lnTo>
                    <a:pt x="971882" y="0"/>
                  </a:lnTo>
                  <a:cubicBezTo>
                    <a:pt x="1025238" y="0"/>
                    <a:pt x="1068491" y="43253"/>
                    <a:pt x="1068491" y="96609"/>
                  </a:cubicBezTo>
                  <a:lnTo>
                    <a:pt x="1068491" y="1437606"/>
                  </a:lnTo>
                  <a:cubicBezTo>
                    <a:pt x="1068491" y="1463228"/>
                    <a:pt x="1058312" y="1487801"/>
                    <a:pt x="1040195" y="1505919"/>
                  </a:cubicBezTo>
                  <a:cubicBezTo>
                    <a:pt x="1022077" y="1524036"/>
                    <a:pt x="997504" y="1534215"/>
                    <a:pt x="971882" y="1534215"/>
                  </a:cubicBezTo>
                  <a:lnTo>
                    <a:pt x="96609" y="1534215"/>
                  </a:lnTo>
                  <a:cubicBezTo>
                    <a:pt x="70987" y="1534215"/>
                    <a:pt x="46414" y="1524036"/>
                    <a:pt x="28296" y="1505919"/>
                  </a:cubicBezTo>
                  <a:cubicBezTo>
                    <a:pt x="10178" y="1487801"/>
                    <a:pt x="0" y="1463228"/>
                    <a:pt x="0" y="1437606"/>
                  </a:cubicBezTo>
                  <a:lnTo>
                    <a:pt x="0" y="96609"/>
                  </a:lnTo>
                  <a:cubicBezTo>
                    <a:pt x="0" y="70987"/>
                    <a:pt x="10178" y="46414"/>
                    <a:pt x="28296" y="28296"/>
                  </a:cubicBezTo>
                  <a:cubicBezTo>
                    <a:pt x="46414" y="10178"/>
                    <a:pt x="70987" y="0"/>
                    <a:pt x="96609"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068491" cy="157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1895528" y="3586163"/>
            <a:ext cx="3189704" cy="3854558"/>
          </a:xfrm>
          <a:prstGeom prst="rect">
            <a:avLst/>
          </a:prstGeom>
        </p:spPr>
        <p:txBody>
          <a:bodyPr lIns="0" tIns="0" rIns="0" bIns="0" rtlCol="0" anchor="t">
            <a:spAutoFit/>
          </a:bodyPr>
          <a:lstStyle/>
          <a:p>
            <a:pPr marL="0" lvl="0" indent="0" algn="l">
              <a:lnSpc>
                <a:spcPts val="2794"/>
              </a:lnSpc>
            </a:pPr>
            <a:r>
              <a:rPr lang="en-US" sz="1995" spc="21">
                <a:solidFill>
                  <a:srgbClr val="FFFFFF"/>
                </a:solidFill>
                <a:latin typeface="Krub"/>
                <a:ea typeface="Krub"/>
                <a:cs typeface="Krub"/>
                <a:sym typeface="Krub"/>
              </a:rPr>
              <a:t>Login &amp; Home Portal</a:t>
            </a:r>
          </a:p>
          <a:p>
            <a:pPr marL="0" lvl="0" indent="0" algn="l">
              <a:lnSpc>
                <a:spcPts val="2794"/>
              </a:lnSpc>
            </a:pPr>
            <a:r>
              <a:rPr lang="en-US" sz="1995" spc="21">
                <a:solidFill>
                  <a:srgbClr val="FFFFFF"/>
                </a:solidFill>
                <a:latin typeface="Krub"/>
                <a:ea typeface="Krub"/>
                <a:cs typeface="Krub"/>
                <a:sym typeface="Krub"/>
              </a:rPr>
              <a:t>Secure authentication system with Aadhaar integration. User-friendly dashboard displaying ration card details, entitlements, and transaction history. Role-based access control directing users to their respective modules.</a:t>
            </a:r>
          </a:p>
        </p:txBody>
      </p:sp>
      <p:grpSp>
        <p:nvGrpSpPr>
          <p:cNvPr id="11" name="Group 11"/>
          <p:cNvGrpSpPr/>
          <p:nvPr/>
        </p:nvGrpSpPr>
        <p:grpSpPr>
          <a:xfrm>
            <a:off x="7115537" y="2710917"/>
            <a:ext cx="4056926" cy="5825221"/>
            <a:chOff x="0" y="0"/>
            <a:chExt cx="1068491" cy="1534215"/>
          </a:xfrm>
        </p:grpSpPr>
        <p:sp>
          <p:nvSpPr>
            <p:cNvPr id="12" name="Freeform 12"/>
            <p:cNvSpPr/>
            <p:nvPr/>
          </p:nvSpPr>
          <p:spPr>
            <a:xfrm>
              <a:off x="0" y="0"/>
              <a:ext cx="1068491" cy="1534215"/>
            </a:xfrm>
            <a:custGeom>
              <a:avLst/>
              <a:gdLst/>
              <a:ahLst/>
              <a:cxnLst/>
              <a:rect l="l" t="t" r="r" b="b"/>
              <a:pathLst>
                <a:path w="1068491" h="1534215">
                  <a:moveTo>
                    <a:pt x="96609" y="0"/>
                  </a:moveTo>
                  <a:lnTo>
                    <a:pt x="971882" y="0"/>
                  </a:lnTo>
                  <a:cubicBezTo>
                    <a:pt x="1025238" y="0"/>
                    <a:pt x="1068491" y="43253"/>
                    <a:pt x="1068491" y="96609"/>
                  </a:cubicBezTo>
                  <a:lnTo>
                    <a:pt x="1068491" y="1437606"/>
                  </a:lnTo>
                  <a:cubicBezTo>
                    <a:pt x="1068491" y="1463228"/>
                    <a:pt x="1058312" y="1487801"/>
                    <a:pt x="1040195" y="1505919"/>
                  </a:cubicBezTo>
                  <a:cubicBezTo>
                    <a:pt x="1022077" y="1524036"/>
                    <a:pt x="997504" y="1534215"/>
                    <a:pt x="971882" y="1534215"/>
                  </a:cubicBezTo>
                  <a:lnTo>
                    <a:pt x="96609" y="1534215"/>
                  </a:lnTo>
                  <a:cubicBezTo>
                    <a:pt x="70987" y="1534215"/>
                    <a:pt x="46414" y="1524036"/>
                    <a:pt x="28296" y="1505919"/>
                  </a:cubicBezTo>
                  <a:cubicBezTo>
                    <a:pt x="10178" y="1487801"/>
                    <a:pt x="0" y="1463228"/>
                    <a:pt x="0" y="1437606"/>
                  </a:cubicBezTo>
                  <a:lnTo>
                    <a:pt x="0" y="96609"/>
                  </a:lnTo>
                  <a:cubicBezTo>
                    <a:pt x="0" y="70987"/>
                    <a:pt x="10178" y="46414"/>
                    <a:pt x="28296" y="28296"/>
                  </a:cubicBezTo>
                  <a:cubicBezTo>
                    <a:pt x="46414" y="10178"/>
                    <a:pt x="70987" y="0"/>
                    <a:pt x="96609" y="0"/>
                  </a:cubicBezTo>
                  <a:close/>
                </a:path>
              </a:pathLst>
            </a:custGeom>
            <a:gradFill rotWithShape="1">
              <a:gsLst>
                <a:gs pos="0">
                  <a:srgbClr val="192385">
                    <a:alpha val="100000"/>
                  </a:srgbClr>
                </a:gs>
                <a:gs pos="100000">
                  <a:srgbClr val="2D8BBA">
                    <a:alpha val="100000"/>
                  </a:srgbClr>
                </a:gs>
              </a:gsLst>
              <a:lin ang="5400000"/>
            </a:gradFill>
          </p:spPr>
        </p:sp>
        <p:sp>
          <p:nvSpPr>
            <p:cNvPr id="13" name="TextBox 13"/>
            <p:cNvSpPr txBox="1"/>
            <p:nvPr/>
          </p:nvSpPr>
          <p:spPr>
            <a:xfrm>
              <a:off x="0" y="-38100"/>
              <a:ext cx="1068491" cy="157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7549148" y="3586163"/>
            <a:ext cx="3189704" cy="3854558"/>
          </a:xfrm>
          <a:prstGeom prst="rect">
            <a:avLst/>
          </a:prstGeom>
        </p:spPr>
        <p:txBody>
          <a:bodyPr lIns="0" tIns="0" rIns="0" bIns="0" rtlCol="0" anchor="t">
            <a:spAutoFit/>
          </a:bodyPr>
          <a:lstStyle/>
          <a:p>
            <a:pPr marL="0" lvl="0" indent="0" algn="l">
              <a:lnSpc>
                <a:spcPts val="2794"/>
              </a:lnSpc>
            </a:pPr>
            <a:r>
              <a:rPr lang="en-US" sz="1995" spc="21">
                <a:solidFill>
                  <a:srgbClr val="FFFFFF"/>
                </a:solidFill>
                <a:latin typeface="Krub"/>
                <a:ea typeface="Krub"/>
                <a:cs typeface="Krub"/>
                <a:sym typeface="Krub"/>
              </a:rPr>
              <a:t>Admin &amp; Kisan Portal</a:t>
            </a:r>
          </a:p>
          <a:p>
            <a:pPr marL="0" lvl="0" indent="0" algn="l">
              <a:lnSpc>
                <a:spcPts val="2794"/>
              </a:lnSpc>
            </a:pPr>
            <a:r>
              <a:rPr lang="en-US" sz="1995" spc="21">
                <a:solidFill>
                  <a:srgbClr val="FFFFFF"/>
                </a:solidFill>
                <a:latin typeface="Krub"/>
                <a:ea typeface="Krub"/>
                <a:cs typeface="Krub"/>
                <a:sym typeface="Krub"/>
              </a:rPr>
              <a:t>Centralized admin dashboard for inventory management, dealer oversight, and beneficiary verification. Integrated Kisan Portal enables farmers to register produce, view MSP rates, and track procurement status directly.</a:t>
            </a:r>
          </a:p>
        </p:txBody>
      </p:sp>
      <p:grpSp>
        <p:nvGrpSpPr>
          <p:cNvPr id="15" name="Group 15"/>
          <p:cNvGrpSpPr/>
          <p:nvPr/>
        </p:nvGrpSpPr>
        <p:grpSpPr>
          <a:xfrm>
            <a:off x="12769157" y="2710917"/>
            <a:ext cx="4056926" cy="5825221"/>
            <a:chOff x="0" y="0"/>
            <a:chExt cx="1068491" cy="1534215"/>
          </a:xfrm>
        </p:grpSpPr>
        <p:sp>
          <p:nvSpPr>
            <p:cNvPr id="16" name="Freeform 16"/>
            <p:cNvSpPr/>
            <p:nvPr/>
          </p:nvSpPr>
          <p:spPr>
            <a:xfrm>
              <a:off x="0" y="0"/>
              <a:ext cx="1068491" cy="1534215"/>
            </a:xfrm>
            <a:custGeom>
              <a:avLst/>
              <a:gdLst/>
              <a:ahLst/>
              <a:cxnLst/>
              <a:rect l="l" t="t" r="r" b="b"/>
              <a:pathLst>
                <a:path w="1068491" h="1534215">
                  <a:moveTo>
                    <a:pt x="96609" y="0"/>
                  </a:moveTo>
                  <a:lnTo>
                    <a:pt x="971882" y="0"/>
                  </a:lnTo>
                  <a:cubicBezTo>
                    <a:pt x="1025238" y="0"/>
                    <a:pt x="1068491" y="43253"/>
                    <a:pt x="1068491" y="96609"/>
                  </a:cubicBezTo>
                  <a:lnTo>
                    <a:pt x="1068491" y="1437606"/>
                  </a:lnTo>
                  <a:cubicBezTo>
                    <a:pt x="1068491" y="1463228"/>
                    <a:pt x="1058312" y="1487801"/>
                    <a:pt x="1040195" y="1505919"/>
                  </a:cubicBezTo>
                  <a:cubicBezTo>
                    <a:pt x="1022077" y="1524036"/>
                    <a:pt x="997504" y="1534215"/>
                    <a:pt x="971882" y="1534215"/>
                  </a:cubicBezTo>
                  <a:lnTo>
                    <a:pt x="96609" y="1534215"/>
                  </a:lnTo>
                  <a:cubicBezTo>
                    <a:pt x="70987" y="1534215"/>
                    <a:pt x="46414" y="1524036"/>
                    <a:pt x="28296" y="1505919"/>
                  </a:cubicBezTo>
                  <a:cubicBezTo>
                    <a:pt x="10178" y="1487801"/>
                    <a:pt x="0" y="1463228"/>
                    <a:pt x="0" y="1437606"/>
                  </a:cubicBezTo>
                  <a:lnTo>
                    <a:pt x="0" y="96609"/>
                  </a:lnTo>
                  <a:cubicBezTo>
                    <a:pt x="0" y="70987"/>
                    <a:pt x="10178" y="46414"/>
                    <a:pt x="28296" y="28296"/>
                  </a:cubicBezTo>
                  <a:cubicBezTo>
                    <a:pt x="46414" y="10178"/>
                    <a:pt x="70987" y="0"/>
                    <a:pt x="96609" y="0"/>
                  </a:cubicBezTo>
                  <a:close/>
                </a:path>
              </a:pathLst>
            </a:custGeom>
            <a:gradFill rotWithShape="1">
              <a:gsLst>
                <a:gs pos="0">
                  <a:srgbClr val="192385">
                    <a:alpha val="100000"/>
                  </a:srgbClr>
                </a:gs>
                <a:gs pos="100000">
                  <a:srgbClr val="2D8BBA">
                    <a:alpha val="100000"/>
                  </a:srgbClr>
                </a:gs>
              </a:gsLst>
              <a:lin ang="5400000"/>
            </a:gradFill>
          </p:spPr>
        </p:sp>
        <p:sp>
          <p:nvSpPr>
            <p:cNvPr id="17" name="TextBox 17"/>
            <p:cNvSpPr txBox="1"/>
            <p:nvPr/>
          </p:nvSpPr>
          <p:spPr>
            <a:xfrm>
              <a:off x="0" y="-38100"/>
              <a:ext cx="1068491" cy="157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13202768" y="3586163"/>
            <a:ext cx="3189704" cy="3854558"/>
          </a:xfrm>
          <a:prstGeom prst="rect">
            <a:avLst/>
          </a:prstGeom>
        </p:spPr>
        <p:txBody>
          <a:bodyPr lIns="0" tIns="0" rIns="0" bIns="0" rtlCol="0" anchor="t">
            <a:spAutoFit/>
          </a:bodyPr>
          <a:lstStyle/>
          <a:p>
            <a:pPr marL="0" lvl="0" indent="0" algn="l">
              <a:lnSpc>
                <a:spcPts val="2794"/>
              </a:lnSpc>
            </a:pPr>
            <a:r>
              <a:rPr lang="en-US" sz="1995" spc="21">
                <a:solidFill>
                  <a:srgbClr val="FFFFFF"/>
                </a:solidFill>
                <a:latin typeface="Krub"/>
                <a:ea typeface="Krub"/>
                <a:cs typeface="Krub"/>
                <a:sym typeface="Krub"/>
              </a:rPr>
              <a:t>Beneficiary &amp; Dealer Module</a:t>
            </a:r>
          </a:p>
          <a:p>
            <a:pPr marL="0" lvl="0" indent="0" algn="l">
              <a:lnSpc>
                <a:spcPts val="2794"/>
              </a:lnSpc>
            </a:pPr>
            <a:r>
              <a:rPr lang="en-US" sz="1995" spc="21">
                <a:solidFill>
                  <a:srgbClr val="FFFFFF"/>
                </a:solidFill>
                <a:latin typeface="Krub"/>
                <a:ea typeface="Krub"/>
                <a:cs typeface="Krub"/>
                <a:sym typeface="Krub"/>
              </a:rPr>
              <a:t>Beneficiary portal for checking allocations, locating fair price shops, and raising grievances. Dealer module manages stock receipts, distribution records, and generates transparent transaction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grpSp>
        <p:nvGrpSpPr>
          <p:cNvPr id="2" name="Group 2"/>
          <p:cNvGrpSpPr/>
          <p:nvPr/>
        </p:nvGrpSpPr>
        <p:grpSpPr>
          <a:xfrm>
            <a:off x="2147050" y="2772025"/>
            <a:ext cx="13993900" cy="2174328"/>
            <a:chOff x="0" y="0"/>
            <a:chExt cx="3685636" cy="572663"/>
          </a:xfrm>
        </p:grpSpPr>
        <p:sp>
          <p:nvSpPr>
            <p:cNvPr id="3" name="Freeform 3"/>
            <p:cNvSpPr/>
            <p:nvPr/>
          </p:nvSpPr>
          <p:spPr>
            <a:xfrm>
              <a:off x="0" y="0"/>
              <a:ext cx="3685636" cy="572663"/>
            </a:xfrm>
            <a:custGeom>
              <a:avLst/>
              <a:gdLst/>
              <a:ahLst/>
              <a:cxnLst/>
              <a:rect l="l" t="t" r="r" b="b"/>
              <a:pathLst>
                <a:path w="3685636" h="572663">
                  <a:moveTo>
                    <a:pt x="28008" y="0"/>
                  </a:moveTo>
                  <a:lnTo>
                    <a:pt x="3657629" y="0"/>
                  </a:lnTo>
                  <a:cubicBezTo>
                    <a:pt x="3665057" y="0"/>
                    <a:pt x="3672181" y="2951"/>
                    <a:pt x="3677433" y="8203"/>
                  </a:cubicBezTo>
                  <a:cubicBezTo>
                    <a:pt x="3682686" y="13456"/>
                    <a:pt x="3685636" y="20579"/>
                    <a:pt x="3685636" y="28008"/>
                  </a:cubicBezTo>
                  <a:lnTo>
                    <a:pt x="3685636" y="544655"/>
                  </a:lnTo>
                  <a:cubicBezTo>
                    <a:pt x="3685636" y="560123"/>
                    <a:pt x="3673097" y="572663"/>
                    <a:pt x="3657629" y="572663"/>
                  </a:cubicBezTo>
                  <a:lnTo>
                    <a:pt x="28008" y="572663"/>
                  </a:lnTo>
                  <a:cubicBezTo>
                    <a:pt x="12539" y="572663"/>
                    <a:pt x="0" y="560123"/>
                    <a:pt x="0" y="544655"/>
                  </a:cubicBezTo>
                  <a:lnTo>
                    <a:pt x="0" y="28008"/>
                  </a:lnTo>
                  <a:cubicBezTo>
                    <a:pt x="0" y="12539"/>
                    <a:pt x="12539" y="0"/>
                    <a:pt x="28008" y="0"/>
                  </a:cubicBezTo>
                  <a:close/>
                </a:path>
              </a:pathLst>
            </a:custGeom>
            <a:gradFill rotWithShape="1">
              <a:gsLst>
                <a:gs pos="0">
                  <a:srgbClr val="192385">
                    <a:alpha val="100000"/>
                  </a:srgbClr>
                </a:gs>
                <a:gs pos="100000">
                  <a:srgbClr val="2D8BBA">
                    <a:alpha val="100000"/>
                  </a:srgbClr>
                </a:gs>
              </a:gsLst>
              <a:lin ang="5400000"/>
            </a:gradFill>
          </p:spPr>
        </p:sp>
        <p:sp>
          <p:nvSpPr>
            <p:cNvPr id="4" name="TextBox 4"/>
            <p:cNvSpPr txBox="1"/>
            <p:nvPr/>
          </p:nvSpPr>
          <p:spPr>
            <a:xfrm>
              <a:off x="0" y="-38100"/>
              <a:ext cx="3685636" cy="6107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5871030" y="1113109"/>
            <a:ext cx="6545941" cy="957774"/>
          </a:xfrm>
          <a:prstGeom prst="rect">
            <a:avLst/>
          </a:prstGeom>
        </p:spPr>
        <p:txBody>
          <a:bodyPr lIns="0" tIns="0" rIns="0" bIns="0" rtlCol="0" anchor="t">
            <a:spAutoFit/>
          </a:bodyPr>
          <a:lstStyle/>
          <a:p>
            <a:pPr marL="0" lvl="0" indent="0" algn="ctr">
              <a:lnSpc>
                <a:spcPts val="6184"/>
              </a:lnSpc>
            </a:pPr>
            <a:r>
              <a:rPr lang="en-US" sz="6376">
                <a:solidFill>
                  <a:srgbClr val="090147"/>
                </a:solidFill>
                <a:latin typeface="Bungee"/>
                <a:ea typeface="Bungee"/>
                <a:cs typeface="Bungee"/>
                <a:sym typeface="Bungee"/>
              </a:rPr>
              <a:t>Admin Portal</a:t>
            </a:r>
          </a:p>
        </p:txBody>
      </p:sp>
      <p:sp>
        <p:nvSpPr>
          <p:cNvPr id="10" name="TextBox 10"/>
          <p:cNvSpPr txBox="1"/>
          <p:nvPr/>
        </p:nvSpPr>
        <p:spPr>
          <a:xfrm>
            <a:off x="2668678" y="3368044"/>
            <a:ext cx="13197006" cy="953714"/>
          </a:xfrm>
          <a:prstGeom prst="rect">
            <a:avLst/>
          </a:prstGeom>
        </p:spPr>
        <p:txBody>
          <a:bodyPr lIns="0" tIns="0" rIns="0" bIns="0" rtlCol="0" anchor="t">
            <a:spAutoFit/>
          </a:bodyPr>
          <a:lstStyle/>
          <a:p>
            <a:pPr marL="0" lvl="0" indent="0" algn="l">
              <a:lnSpc>
                <a:spcPts val="2558"/>
              </a:lnSpc>
            </a:pPr>
            <a:r>
              <a:rPr lang="en-US" sz="1827" spc="20">
                <a:solidFill>
                  <a:srgbClr val="FFFFFF"/>
                </a:solidFill>
                <a:latin typeface="Krub"/>
                <a:ea typeface="Krub"/>
                <a:cs typeface="Krub"/>
                <a:sym typeface="Krub"/>
              </a:rPr>
              <a:t>The Admin Portal serves as the central control hub for the Advanced PDS system. Administrators can manage user accounts, approve dealer registrations, and oversee beneficiary enrollments. The dashboard provides real-time inventory tracking across all distribution centers with automated alerts for stock shortages.</a:t>
            </a:r>
          </a:p>
        </p:txBody>
      </p:sp>
      <p:grpSp>
        <p:nvGrpSpPr>
          <p:cNvPr id="11" name="Group 11"/>
          <p:cNvGrpSpPr/>
          <p:nvPr/>
        </p:nvGrpSpPr>
        <p:grpSpPr>
          <a:xfrm>
            <a:off x="2270231" y="5651203"/>
            <a:ext cx="13993900" cy="2174328"/>
            <a:chOff x="0" y="0"/>
            <a:chExt cx="3685636" cy="572663"/>
          </a:xfrm>
        </p:grpSpPr>
        <p:sp>
          <p:nvSpPr>
            <p:cNvPr id="12" name="Freeform 12"/>
            <p:cNvSpPr/>
            <p:nvPr/>
          </p:nvSpPr>
          <p:spPr>
            <a:xfrm>
              <a:off x="0" y="0"/>
              <a:ext cx="3685636" cy="572663"/>
            </a:xfrm>
            <a:custGeom>
              <a:avLst/>
              <a:gdLst/>
              <a:ahLst/>
              <a:cxnLst/>
              <a:rect l="l" t="t" r="r" b="b"/>
              <a:pathLst>
                <a:path w="3685636" h="572663">
                  <a:moveTo>
                    <a:pt x="28008" y="0"/>
                  </a:moveTo>
                  <a:lnTo>
                    <a:pt x="3657629" y="0"/>
                  </a:lnTo>
                  <a:cubicBezTo>
                    <a:pt x="3665057" y="0"/>
                    <a:pt x="3672181" y="2951"/>
                    <a:pt x="3677433" y="8203"/>
                  </a:cubicBezTo>
                  <a:cubicBezTo>
                    <a:pt x="3682686" y="13456"/>
                    <a:pt x="3685636" y="20579"/>
                    <a:pt x="3685636" y="28008"/>
                  </a:cubicBezTo>
                  <a:lnTo>
                    <a:pt x="3685636" y="544655"/>
                  </a:lnTo>
                  <a:cubicBezTo>
                    <a:pt x="3685636" y="560123"/>
                    <a:pt x="3673097" y="572663"/>
                    <a:pt x="3657629" y="572663"/>
                  </a:cubicBezTo>
                  <a:lnTo>
                    <a:pt x="28008" y="572663"/>
                  </a:lnTo>
                  <a:cubicBezTo>
                    <a:pt x="12539" y="572663"/>
                    <a:pt x="0" y="560123"/>
                    <a:pt x="0" y="544655"/>
                  </a:cubicBezTo>
                  <a:lnTo>
                    <a:pt x="0" y="28008"/>
                  </a:lnTo>
                  <a:cubicBezTo>
                    <a:pt x="0" y="12539"/>
                    <a:pt x="12539" y="0"/>
                    <a:pt x="28008" y="0"/>
                  </a:cubicBezTo>
                  <a:close/>
                </a:path>
              </a:pathLst>
            </a:custGeom>
            <a:gradFill rotWithShape="1">
              <a:gsLst>
                <a:gs pos="0">
                  <a:srgbClr val="192385">
                    <a:alpha val="100000"/>
                  </a:srgbClr>
                </a:gs>
                <a:gs pos="100000">
                  <a:srgbClr val="2D8BBA">
                    <a:alpha val="100000"/>
                  </a:srgbClr>
                </a:gs>
              </a:gsLst>
              <a:lin ang="5400000"/>
            </a:gradFill>
          </p:spPr>
        </p:sp>
        <p:sp>
          <p:nvSpPr>
            <p:cNvPr id="13" name="TextBox 13"/>
            <p:cNvSpPr txBox="1"/>
            <p:nvPr/>
          </p:nvSpPr>
          <p:spPr>
            <a:xfrm>
              <a:off x="0" y="-38100"/>
              <a:ext cx="3685636" cy="6107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2791859" y="6247223"/>
            <a:ext cx="13197006" cy="953714"/>
          </a:xfrm>
          <a:prstGeom prst="rect">
            <a:avLst/>
          </a:prstGeom>
        </p:spPr>
        <p:txBody>
          <a:bodyPr lIns="0" tIns="0" rIns="0" bIns="0" rtlCol="0" anchor="t">
            <a:spAutoFit/>
          </a:bodyPr>
          <a:lstStyle/>
          <a:p>
            <a:pPr marL="0" lvl="0" indent="0" algn="l">
              <a:lnSpc>
                <a:spcPts val="2558"/>
              </a:lnSpc>
            </a:pPr>
            <a:r>
              <a:rPr lang="en-US" sz="1827" spc="20">
                <a:solidFill>
                  <a:srgbClr val="FFFFFF"/>
                </a:solidFill>
                <a:latin typeface="Krub"/>
                <a:ea typeface="Krub"/>
                <a:cs typeface="Krub"/>
                <a:sym typeface="Krub"/>
              </a:rPr>
              <a:t>Key administrative functions include comprehensive reporting tools that generate transparency reports, distribution analytics, and audit trails. The system enables inventory management with stock allocation, transfer requests between centers, and wastage tracking. All administrative actions are logged for accountability and compliance purposes.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grpSp>
        <p:nvGrpSpPr>
          <p:cNvPr id="2" name="Group 2"/>
          <p:cNvGrpSpPr/>
          <p:nvPr/>
        </p:nvGrpSpPr>
        <p:grpSpPr>
          <a:xfrm>
            <a:off x="1461917" y="2710917"/>
            <a:ext cx="5271005" cy="5133871"/>
            <a:chOff x="0" y="0"/>
            <a:chExt cx="1388248" cy="1352131"/>
          </a:xfrm>
        </p:grpSpPr>
        <p:sp>
          <p:nvSpPr>
            <p:cNvPr id="3" name="Freeform 3"/>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4" name="TextBox 4"/>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7238562" y="2710917"/>
            <a:ext cx="5271005" cy="5133871"/>
            <a:chOff x="0" y="0"/>
            <a:chExt cx="1388248" cy="1352131"/>
          </a:xfrm>
        </p:grpSpPr>
        <p:sp>
          <p:nvSpPr>
            <p:cNvPr id="6" name="Freeform 6"/>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7" name="TextBox 7"/>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4823157" y="956994"/>
            <a:ext cx="8641686" cy="853205"/>
          </a:xfrm>
          <a:prstGeom prst="rect">
            <a:avLst/>
          </a:prstGeom>
        </p:spPr>
        <p:txBody>
          <a:bodyPr lIns="0" tIns="0" rIns="0" bIns="0" rtlCol="0" anchor="t">
            <a:spAutoFit/>
          </a:bodyPr>
          <a:lstStyle/>
          <a:p>
            <a:pPr marL="0" lvl="0" indent="0" algn="ctr">
              <a:lnSpc>
                <a:spcPts val="5559"/>
              </a:lnSpc>
            </a:pPr>
            <a:r>
              <a:rPr lang="en-US" sz="5731">
                <a:solidFill>
                  <a:srgbClr val="090147"/>
                </a:solidFill>
                <a:latin typeface="Bungee"/>
                <a:ea typeface="Bungee"/>
                <a:cs typeface="Bungee"/>
                <a:sym typeface="Bungee"/>
              </a:rPr>
              <a:t>Beneficiary Portal</a:t>
            </a:r>
          </a:p>
        </p:txBody>
      </p:sp>
      <p:sp>
        <p:nvSpPr>
          <p:cNvPr id="12" name="TextBox 12"/>
          <p:cNvSpPr txBox="1"/>
          <p:nvPr/>
        </p:nvSpPr>
        <p:spPr>
          <a:xfrm>
            <a:off x="1983545" y="3214062"/>
            <a:ext cx="4083401" cy="3313791"/>
          </a:xfrm>
          <a:prstGeom prst="rect">
            <a:avLst/>
          </a:prstGeom>
        </p:spPr>
        <p:txBody>
          <a:bodyPr lIns="0" tIns="0" rIns="0" bIns="0" rtlCol="0" anchor="t">
            <a:spAutoFit/>
          </a:bodyPr>
          <a:lstStyle/>
          <a:p>
            <a:pPr marL="0" lvl="0" indent="0" algn="l">
              <a:lnSpc>
                <a:spcPts val="2675"/>
              </a:lnSpc>
            </a:pPr>
            <a:r>
              <a:rPr lang="en-US" sz="1910" spc="21">
                <a:solidFill>
                  <a:srgbClr val="FFFFFF"/>
                </a:solidFill>
                <a:latin typeface="Krub"/>
                <a:ea typeface="Krub"/>
                <a:cs typeface="Krub"/>
                <a:sym typeface="Krub"/>
              </a:rPr>
              <a:t>Ration Card Management</a:t>
            </a:r>
          </a:p>
          <a:p>
            <a:pPr marL="0" lvl="0" indent="0" algn="l">
              <a:lnSpc>
                <a:spcPts val="2675"/>
              </a:lnSpc>
            </a:pPr>
            <a:r>
              <a:rPr lang="en-US" sz="1910" spc="21">
                <a:solidFill>
                  <a:srgbClr val="FFFFFF"/>
                </a:solidFill>
                <a:latin typeface="Krub"/>
                <a:ea typeface="Krub"/>
                <a:cs typeface="Krub"/>
                <a:sym typeface="Krub"/>
              </a:rPr>
              <a:t>Beneficiaries can view and manage their ration card details digitally. The portal displays family member information, card type, and eligibility status. Users can apply for new cards, request modifications, and track application status in real-time with complete transparency.</a:t>
            </a:r>
          </a:p>
        </p:txBody>
      </p:sp>
      <p:sp>
        <p:nvSpPr>
          <p:cNvPr id="13" name="TextBox 13"/>
          <p:cNvSpPr txBox="1"/>
          <p:nvPr/>
        </p:nvSpPr>
        <p:spPr>
          <a:xfrm>
            <a:off x="7760190" y="3214062"/>
            <a:ext cx="4083401" cy="3313791"/>
          </a:xfrm>
          <a:prstGeom prst="rect">
            <a:avLst/>
          </a:prstGeom>
        </p:spPr>
        <p:txBody>
          <a:bodyPr lIns="0" tIns="0" rIns="0" bIns="0" rtlCol="0" anchor="t">
            <a:spAutoFit/>
          </a:bodyPr>
          <a:lstStyle/>
          <a:p>
            <a:pPr marL="0" lvl="0" indent="0" algn="l">
              <a:lnSpc>
                <a:spcPts val="2675"/>
              </a:lnSpc>
            </a:pPr>
            <a:r>
              <a:rPr lang="en-US" sz="1910" spc="21">
                <a:solidFill>
                  <a:srgbClr val="FFFFFF"/>
                </a:solidFill>
                <a:latin typeface="Krub"/>
                <a:ea typeface="Krub"/>
                <a:cs typeface="Krub"/>
                <a:sym typeface="Krub"/>
              </a:rPr>
              <a:t>Entitlement &amp; Complaints</a:t>
            </a:r>
          </a:p>
          <a:p>
            <a:pPr marL="0" lvl="0" indent="0" algn="l">
              <a:lnSpc>
                <a:spcPts val="2675"/>
              </a:lnSpc>
            </a:pPr>
            <a:r>
              <a:rPr lang="en-US" sz="1910" spc="21">
                <a:solidFill>
                  <a:srgbClr val="FFFFFF"/>
                </a:solidFill>
                <a:latin typeface="Krub"/>
                <a:ea typeface="Krub"/>
                <a:cs typeface="Krub"/>
                <a:sym typeface="Krub"/>
              </a:rPr>
              <a:t>Track monthly entitlements showing exact quantities of rice, wheat, sugar, and kerosene allocated. Real-time updates notify beneficiaries when stock arrives at dealers. A dedicated complaint registration system allows users to report issues with instant acknowledgment and tracking.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85241" y="1042349"/>
            <a:ext cx="10517519" cy="1028534"/>
          </a:xfrm>
          <a:prstGeom prst="rect">
            <a:avLst/>
          </a:prstGeom>
        </p:spPr>
        <p:txBody>
          <a:bodyPr lIns="0" tIns="0" rIns="0" bIns="0" rtlCol="0" anchor="t">
            <a:spAutoFit/>
          </a:bodyPr>
          <a:lstStyle/>
          <a:p>
            <a:pPr marL="0" lvl="0" indent="0" algn="ctr">
              <a:lnSpc>
                <a:spcPts val="6636"/>
              </a:lnSpc>
            </a:pPr>
            <a:r>
              <a:rPr lang="en-US" sz="6842">
                <a:solidFill>
                  <a:srgbClr val="090147"/>
                </a:solidFill>
                <a:latin typeface="Bungee"/>
                <a:ea typeface="Bungee"/>
                <a:cs typeface="Bungee"/>
                <a:sym typeface="Bungee"/>
              </a:rPr>
              <a:t>Dealer Module</a:t>
            </a:r>
          </a:p>
        </p:txBody>
      </p:sp>
      <p:grpSp>
        <p:nvGrpSpPr>
          <p:cNvPr id="3" name="Group 3"/>
          <p:cNvGrpSpPr/>
          <p:nvPr/>
        </p:nvGrpSpPr>
        <p:grpSpPr>
          <a:xfrm>
            <a:off x="1461917" y="2710917"/>
            <a:ext cx="5271005" cy="5133871"/>
            <a:chOff x="0" y="0"/>
            <a:chExt cx="1388248" cy="1352131"/>
          </a:xfrm>
        </p:grpSpPr>
        <p:sp>
          <p:nvSpPr>
            <p:cNvPr id="4" name="Freeform 4"/>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7238562" y="2710917"/>
            <a:ext cx="9071109" cy="5133871"/>
            <a:chOff x="0" y="0"/>
            <a:chExt cx="2389099" cy="1352131"/>
          </a:xfrm>
        </p:grpSpPr>
        <p:sp>
          <p:nvSpPr>
            <p:cNvPr id="8" name="Freeform 8"/>
            <p:cNvSpPr/>
            <p:nvPr/>
          </p:nvSpPr>
          <p:spPr>
            <a:xfrm>
              <a:off x="0" y="0"/>
              <a:ext cx="2389099" cy="1352131"/>
            </a:xfrm>
            <a:custGeom>
              <a:avLst/>
              <a:gdLst/>
              <a:ahLst/>
              <a:cxnLst/>
              <a:rect l="l" t="t" r="r" b="b"/>
              <a:pathLst>
                <a:path w="2389099" h="1352131">
                  <a:moveTo>
                    <a:pt x="43207" y="0"/>
                  </a:moveTo>
                  <a:lnTo>
                    <a:pt x="2345892" y="0"/>
                  </a:lnTo>
                  <a:cubicBezTo>
                    <a:pt x="2357351" y="0"/>
                    <a:pt x="2368341" y="4552"/>
                    <a:pt x="2376444" y="12655"/>
                  </a:cubicBezTo>
                  <a:cubicBezTo>
                    <a:pt x="2384547" y="20758"/>
                    <a:pt x="2389099" y="31748"/>
                    <a:pt x="2389099" y="43207"/>
                  </a:cubicBezTo>
                  <a:lnTo>
                    <a:pt x="2389099" y="1308924"/>
                  </a:lnTo>
                  <a:cubicBezTo>
                    <a:pt x="2389099" y="1320383"/>
                    <a:pt x="2384547" y="1331373"/>
                    <a:pt x="2376444" y="1339476"/>
                  </a:cubicBezTo>
                  <a:cubicBezTo>
                    <a:pt x="2368341" y="1347579"/>
                    <a:pt x="2357351" y="1352131"/>
                    <a:pt x="2345892" y="1352131"/>
                  </a:cubicBezTo>
                  <a:lnTo>
                    <a:pt x="43207" y="1352131"/>
                  </a:lnTo>
                  <a:cubicBezTo>
                    <a:pt x="31748" y="1352131"/>
                    <a:pt x="20758" y="1347579"/>
                    <a:pt x="12655" y="1339476"/>
                  </a:cubicBezTo>
                  <a:cubicBezTo>
                    <a:pt x="4552" y="1331373"/>
                    <a:pt x="0" y="1320383"/>
                    <a:pt x="0" y="1308924"/>
                  </a:cubicBezTo>
                  <a:lnTo>
                    <a:pt x="0" y="43207"/>
                  </a:lnTo>
                  <a:cubicBezTo>
                    <a:pt x="0" y="31748"/>
                    <a:pt x="4552" y="20758"/>
                    <a:pt x="12655" y="12655"/>
                  </a:cubicBezTo>
                  <a:cubicBezTo>
                    <a:pt x="20758" y="4552"/>
                    <a:pt x="31748" y="0"/>
                    <a:pt x="43207"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id="9" name="TextBox 9"/>
            <p:cNvSpPr txBox="1"/>
            <p:nvPr/>
          </p:nvSpPr>
          <p:spPr>
            <a:xfrm>
              <a:off x="0" y="-38100"/>
              <a:ext cx="2389099" cy="139023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1983545" y="3307853"/>
            <a:ext cx="4083401" cy="3126210"/>
          </a:xfrm>
          <a:prstGeom prst="rect">
            <a:avLst/>
          </a:prstGeom>
        </p:spPr>
        <p:txBody>
          <a:bodyPr lIns="0" tIns="0" rIns="0" bIns="0" rtlCol="0" anchor="t">
            <a:spAutoFit/>
          </a:bodyPr>
          <a:lstStyle/>
          <a:p>
            <a:pPr marL="0" lvl="0" indent="0" algn="l">
              <a:lnSpc>
                <a:spcPts val="2514"/>
              </a:lnSpc>
            </a:pPr>
            <a:r>
              <a:rPr lang="en-US" sz="1795" spc="19">
                <a:solidFill>
                  <a:srgbClr val="FFFFFF"/>
                </a:solidFill>
                <a:latin typeface="Krub"/>
                <a:ea typeface="Krub"/>
                <a:cs typeface="Krub"/>
                <a:sym typeface="Krub"/>
              </a:rPr>
              <a:t>Stock Management &amp; Distribution</a:t>
            </a:r>
          </a:p>
          <a:p>
            <a:pPr marL="0" lvl="0" indent="0" algn="l">
              <a:lnSpc>
                <a:spcPts val="2514"/>
              </a:lnSpc>
            </a:pPr>
            <a:r>
              <a:rPr lang="en-US" sz="1795" spc="19">
                <a:solidFill>
                  <a:srgbClr val="FFFFFF"/>
                </a:solidFill>
                <a:latin typeface="Krub"/>
                <a:ea typeface="Krub"/>
                <a:cs typeface="Krub"/>
                <a:sym typeface="Krub"/>
              </a:rPr>
              <a:t>The dealer portal provides comprehensive inventory tracking with real-time stock updates. Dealers can monitor grain quantities, manage incoming shipments from FCI, and track distribution to beneficiaries. Automated alerts notify low stock levels, ensuring continuous supply chain efficiency.</a:t>
            </a:r>
          </a:p>
        </p:txBody>
      </p:sp>
      <p:sp>
        <p:nvSpPr>
          <p:cNvPr id="13" name="TextBox 13"/>
          <p:cNvSpPr txBox="1"/>
          <p:nvPr/>
        </p:nvSpPr>
        <p:spPr>
          <a:xfrm>
            <a:off x="7761466" y="3369766"/>
            <a:ext cx="8025299" cy="1240260"/>
          </a:xfrm>
          <a:prstGeom prst="rect">
            <a:avLst/>
          </a:prstGeom>
        </p:spPr>
        <p:txBody>
          <a:bodyPr lIns="0" tIns="0" rIns="0" bIns="0" rtlCol="0" anchor="t">
            <a:spAutoFit/>
          </a:bodyPr>
          <a:lstStyle/>
          <a:p>
            <a:pPr marL="0" lvl="0" indent="0" algn="l">
              <a:lnSpc>
                <a:spcPts val="2514"/>
              </a:lnSpc>
            </a:pPr>
            <a:r>
              <a:rPr lang="en-US" sz="1795" spc="19" dirty="0">
                <a:solidFill>
                  <a:srgbClr val="090147"/>
                </a:solidFill>
                <a:latin typeface="Krub"/>
                <a:ea typeface="Krub"/>
                <a:cs typeface="Krub"/>
                <a:sym typeface="Krub"/>
              </a:rPr>
              <a:t>Sales Recording System</a:t>
            </a:r>
          </a:p>
          <a:p>
            <a:pPr marL="0" lvl="0" indent="0" algn="l">
              <a:lnSpc>
                <a:spcPts val="2514"/>
              </a:lnSpc>
            </a:pPr>
            <a:r>
              <a:rPr lang="en-US" sz="1795" spc="19" dirty="0">
                <a:solidFill>
                  <a:srgbClr val="090147"/>
                </a:solidFill>
                <a:latin typeface="Krub"/>
                <a:ea typeface="Krub"/>
                <a:cs typeface="Krub"/>
                <a:sym typeface="Krub"/>
              </a:rPr>
              <a:t>Every transaction is digitally recorded with beneficiary verification. The system generates instant receipts, maintains detailed sales logs, and prevents duplicate distributions through smart validation checks.</a:t>
            </a:r>
          </a:p>
        </p:txBody>
      </p:sp>
      <p:sp>
        <p:nvSpPr>
          <p:cNvPr id="15" name="TextBox 15"/>
          <p:cNvSpPr txBox="1"/>
          <p:nvPr/>
        </p:nvSpPr>
        <p:spPr>
          <a:xfrm>
            <a:off x="7761466" y="5367780"/>
            <a:ext cx="8025299" cy="1554585"/>
          </a:xfrm>
          <a:prstGeom prst="rect">
            <a:avLst/>
          </a:prstGeom>
        </p:spPr>
        <p:txBody>
          <a:bodyPr lIns="0" tIns="0" rIns="0" bIns="0" rtlCol="0" anchor="t">
            <a:spAutoFit/>
          </a:bodyPr>
          <a:lstStyle/>
          <a:p>
            <a:pPr marL="0" lvl="0" indent="0" algn="l">
              <a:lnSpc>
                <a:spcPts val="2514"/>
              </a:lnSpc>
            </a:pPr>
            <a:r>
              <a:rPr lang="en-US" sz="1795" spc="19">
                <a:solidFill>
                  <a:srgbClr val="090147"/>
                </a:solidFill>
                <a:latin typeface="Krub"/>
                <a:ea typeface="Krub"/>
                <a:cs typeface="Krub"/>
                <a:sym typeface="Krub"/>
              </a:rPr>
              <a:t>Compliance &amp; Reporting</a:t>
            </a:r>
          </a:p>
          <a:p>
            <a:pPr marL="0" lvl="0" indent="0" algn="l">
              <a:lnSpc>
                <a:spcPts val="2514"/>
              </a:lnSpc>
            </a:pPr>
            <a:r>
              <a:rPr lang="en-US" sz="1795" spc="19">
                <a:solidFill>
                  <a:srgbClr val="090147"/>
                </a:solidFill>
                <a:latin typeface="Krub"/>
                <a:ea typeface="Krub"/>
                <a:cs typeface="Krub"/>
                <a:sym typeface="Krub"/>
              </a:rPr>
              <a:t>Built-in compliance tools ensure dealers meet government regulations. Automated reports track daily sales, monthly distributions, and quota utilization. Transparent audit trails enable accountability and reduce corruption in the PDS network.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419203" y="2008915"/>
            <a:ext cx="7004219" cy="6306494"/>
          </a:xfrm>
          <a:prstGeom prst="rect">
            <a:avLst/>
          </a:prstGeom>
        </p:spPr>
      </p:pic>
      <p:grpSp>
        <p:nvGrpSpPr>
          <p:cNvPr id="3" name="Group 3"/>
          <p:cNvGrpSpPr/>
          <p:nvPr/>
        </p:nvGrpSpPr>
        <p:grpSpPr>
          <a:xfrm>
            <a:off x="3310273" y="2871338"/>
            <a:ext cx="5271005" cy="5133871"/>
            <a:chOff x="0" y="0"/>
            <a:chExt cx="1388248" cy="1352131"/>
          </a:xfrm>
        </p:grpSpPr>
        <p:sp>
          <p:nvSpPr>
            <p:cNvPr id="4" name="Freeform 4"/>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5871030" y="1042349"/>
            <a:ext cx="6545941" cy="1028534"/>
          </a:xfrm>
          <a:prstGeom prst="rect">
            <a:avLst/>
          </a:prstGeom>
        </p:spPr>
        <p:txBody>
          <a:bodyPr lIns="0" tIns="0" rIns="0" bIns="0" rtlCol="0" anchor="t">
            <a:spAutoFit/>
          </a:bodyPr>
          <a:lstStyle/>
          <a:p>
            <a:pPr marL="0" lvl="0" indent="0" algn="ctr">
              <a:lnSpc>
                <a:spcPts val="6636"/>
              </a:lnSpc>
            </a:pPr>
            <a:r>
              <a:rPr lang="en-US" sz="6842">
                <a:solidFill>
                  <a:srgbClr val="090147"/>
                </a:solidFill>
                <a:latin typeface="Bungee"/>
                <a:ea typeface="Bungee"/>
                <a:cs typeface="Bungee"/>
                <a:sym typeface="Bungee"/>
              </a:rPr>
              <a:t>Key Results</a:t>
            </a:r>
          </a:p>
        </p:txBody>
      </p:sp>
      <p:sp>
        <p:nvSpPr>
          <p:cNvPr id="11" name="TextBox 11"/>
          <p:cNvSpPr txBox="1"/>
          <p:nvPr/>
        </p:nvSpPr>
        <p:spPr>
          <a:xfrm>
            <a:off x="3831901" y="3362968"/>
            <a:ext cx="4083401" cy="3336821"/>
          </a:xfrm>
          <a:prstGeom prst="rect">
            <a:avLst/>
          </a:prstGeom>
        </p:spPr>
        <p:txBody>
          <a:bodyPr lIns="0" tIns="0" rIns="0" bIns="0" rtlCol="0" anchor="t">
            <a:spAutoFit/>
          </a:bodyPr>
          <a:lstStyle/>
          <a:p>
            <a:pPr marL="0" lvl="0" indent="0" algn="l">
              <a:lnSpc>
                <a:spcPts val="2455"/>
              </a:lnSpc>
            </a:pPr>
            <a:r>
              <a:rPr lang="en-US" sz="1754" spc="19">
                <a:solidFill>
                  <a:srgbClr val="FFFFFF"/>
                </a:solidFill>
                <a:latin typeface="Krub"/>
                <a:ea typeface="Krub"/>
                <a:cs typeface="Krub"/>
                <a:sym typeface="Krub"/>
              </a:rPr>
              <a:t>Our Advanced PDS delivers measurable improvements over the traditional system. Digital records eliminate manual errors and ensure complete transparency. Real-time tracking enables instant verification of grain movement from warehouse to beneficiary. The accountability metrics dashboard provides clear visibility into system performance and identifies bottlenecks immediately.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grpSp>
        <p:nvGrpSpPr>
          <p:cNvPr id="2" name="Group 2"/>
          <p:cNvGrpSpPr/>
          <p:nvPr/>
        </p:nvGrpSpPr>
        <p:grpSpPr>
          <a:xfrm>
            <a:off x="3620175" y="2871338"/>
            <a:ext cx="5271005" cy="5133871"/>
            <a:chOff x="0" y="0"/>
            <a:chExt cx="1388248" cy="1352131"/>
          </a:xfrm>
        </p:grpSpPr>
        <p:sp>
          <p:nvSpPr>
            <p:cNvPr id="3" name="Freeform 3"/>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4" name="TextBox 4"/>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9396820" y="2871338"/>
            <a:ext cx="5271005" cy="5133871"/>
            <a:chOff x="0" y="0"/>
            <a:chExt cx="1388248" cy="1352131"/>
          </a:xfrm>
        </p:grpSpPr>
        <p:sp>
          <p:nvSpPr>
            <p:cNvPr id="6" name="Freeform 6"/>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7" name="TextBox 7"/>
            <p:cNvSpPr txBox="1"/>
            <p:nvPr/>
          </p:nvSpPr>
          <p:spPr>
            <a:xfrm>
              <a:off x="0" y="-38100"/>
              <a:ext cx="1388248" cy="139023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5871030" y="1042349"/>
            <a:ext cx="6545941" cy="1028534"/>
          </a:xfrm>
          <a:prstGeom prst="rect">
            <a:avLst/>
          </a:prstGeom>
        </p:spPr>
        <p:txBody>
          <a:bodyPr lIns="0" tIns="0" rIns="0" bIns="0" rtlCol="0" anchor="t">
            <a:spAutoFit/>
          </a:bodyPr>
          <a:lstStyle/>
          <a:p>
            <a:pPr marL="0" lvl="0" indent="0" algn="ctr">
              <a:lnSpc>
                <a:spcPts val="6636"/>
              </a:lnSpc>
            </a:pPr>
            <a:r>
              <a:rPr lang="en-US" sz="6842">
                <a:solidFill>
                  <a:srgbClr val="090147"/>
                </a:solidFill>
                <a:latin typeface="Bungee"/>
                <a:ea typeface="Bungee"/>
                <a:cs typeface="Bungee"/>
                <a:sym typeface="Bungee"/>
              </a:rPr>
              <a:t>Conclusion</a:t>
            </a:r>
          </a:p>
        </p:txBody>
      </p:sp>
      <p:sp>
        <p:nvSpPr>
          <p:cNvPr id="13" name="TextBox 13"/>
          <p:cNvSpPr txBox="1"/>
          <p:nvPr/>
        </p:nvSpPr>
        <p:spPr>
          <a:xfrm>
            <a:off x="4141803" y="3468274"/>
            <a:ext cx="4083401" cy="3126210"/>
          </a:xfrm>
          <a:prstGeom prst="rect">
            <a:avLst/>
          </a:prstGeom>
        </p:spPr>
        <p:txBody>
          <a:bodyPr lIns="0" tIns="0" rIns="0" bIns="0" rtlCol="0" anchor="t">
            <a:spAutoFit/>
          </a:bodyPr>
          <a:lstStyle/>
          <a:p>
            <a:pPr marL="0" lvl="0" indent="0" algn="l">
              <a:lnSpc>
                <a:spcPts val="2514"/>
              </a:lnSpc>
            </a:pPr>
            <a:r>
              <a:rPr lang="en-US" sz="1795" spc="19">
                <a:solidFill>
                  <a:srgbClr val="FFFFFF"/>
                </a:solidFill>
                <a:latin typeface="Krub"/>
                <a:ea typeface="Krub"/>
                <a:cs typeface="Krub"/>
                <a:sym typeface="Krub"/>
              </a:rPr>
              <a:t>Enhanced Transparency &amp; Efficiency</a:t>
            </a:r>
          </a:p>
          <a:p>
            <a:pPr marL="0" lvl="0" indent="0" algn="l">
              <a:lnSpc>
                <a:spcPts val="2514"/>
              </a:lnSpc>
            </a:pPr>
            <a:r>
              <a:rPr lang="en-US" sz="1795" spc="19">
                <a:solidFill>
                  <a:srgbClr val="FFFFFF"/>
                </a:solidFill>
                <a:latin typeface="Krub"/>
                <a:ea typeface="Krub"/>
                <a:cs typeface="Krub"/>
                <a:sym typeface="Krub"/>
              </a:rPr>
              <a:t>Our Advanced PDS portal revolutionizes public distribution through real-time tracking, digital record-keeping, and automated inventory management. The system eliminates manual errors, reduces corruption, and ensures every grain reaches its intended beneficiary with complete accountability.</a:t>
            </a:r>
          </a:p>
        </p:txBody>
      </p:sp>
      <p:sp>
        <p:nvSpPr>
          <p:cNvPr id="14" name="TextBox 14"/>
          <p:cNvSpPr txBox="1"/>
          <p:nvPr/>
        </p:nvSpPr>
        <p:spPr>
          <a:xfrm>
            <a:off x="9918448" y="3311112"/>
            <a:ext cx="4083401" cy="3526606"/>
          </a:xfrm>
          <a:prstGeom prst="rect">
            <a:avLst/>
          </a:prstGeom>
        </p:spPr>
        <p:txBody>
          <a:bodyPr lIns="0" tIns="0" rIns="0" bIns="0" rtlCol="0" anchor="t">
            <a:spAutoFit/>
          </a:bodyPr>
          <a:lstStyle/>
          <a:p>
            <a:pPr marL="0" lvl="0" indent="0" algn="l">
              <a:lnSpc>
                <a:spcPts val="2514"/>
              </a:lnSpc>
            </a:pPr>
            <a:r>
              <a:rPr lang="en-US" sz="1795" spc="19" smtClean="0">
                <a:solidFill>
                  <a:srgbClr val="FFFFFF"/>
                </a:solidFill>
                <a:latin typeface="Krub"/>
                <a:ea typeface="Krub"/>
                <a:cs typeface="Krub"/>
                <a:sym typeface="Krub"/>
              </a:rPr>
              <a:t> </a:t>
            </a:r>
            <a:r>
              <a:rPr lang="en-US" sz="1795" spc="19" dirty="0">
                <a:solidFill>
                  <a:srgbClr val="FFFFFF"/>
                </a:solidFill>
                <a:latin typeface="Krub"/>
                <a:ea typeface="Krub"/>
                <a:cs typeface="Krub"/>
                <a:sym typeface="Krub"/>
              </a:rPr>
              <a:t>Farmer Support</a:t>
            </a:r>
          </a:p>
          <a:p>
            <a:pPr marL="0" lvl="0" indent="0" algn="l">
              <a:lnSpc>
                <a:spcPts val="2514"/>
              </a:lnSpc>
            </a:pPr>
            <a:r>
              <a:rPr lang="en-US" sz="1795" spc="19" dirty="0">
                <a:solidFill>
                  <a:srgbClr val="FFFFFF"/>
                </a:solidFill>
                <a:latin typeface="Krub"/>
                <a:ea typeface="Krub"/>
                <a:cs typeface="Krub"/>
                <a:sym typeface="Krub"/>
              </a:rPr>
              <a:t>The integrated </a:t>
            </a:r>
            <a:r>
              <a:rPr lang="en-US" sz="1795" spc="19" dirty="0" err="1">
                <a:solidFill>
                  <a:srgbClr val="FFFFFF"/>
                </a:solidFill>
                <a:latin typeface="Krub"/>
                <a:ea typeface="Krub"/>
                <a:cs typeface="Krub"/>
                <a:sym typeface="Krub"/>
              </a:rPr>
              <a:t>Kisan</a:t>
            </a:r>
            <a:r>
              <a:rPr lang="en-US" sz="1795" spc="19" dirty="0">
                <a:solidFill>
                  <a:srgbClr val="FFFFFF"/>
                </a:solidFill>
                <a:latin typeface="Krub"/>
                <a:ea typeface="Krub"/>
                <a:cs typeface="Krub"/>
                <a:sym typeface="Krub"/>
              </a:rPr>
              <a:t> Portal empowers farmers with direct market access and fair pricing. Combined with streamlined admin, beneficiary, and dealer modules, our solution creates a transparent ecosystem that strengthens food security and promotes inclusive digital governance for all stakeholders.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684</Words>
  <Application>Microsoft Office PowerPoint</Application>
  <PresentationFormat>Custom</PresentationFormat>
  <Paragraphs>48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Bungee</vt:lpstr>
      <vt:lpstr>Calibri</vt:lpstr>
      <vt:lpstr>Krub Bold</vt:lpstr>
      <vt:lpstr>Krub</vt:lpstr>
      <vt:lpstr>Office Theme</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Transparent &amp; Improved Public Distribution System</dc:title>
  <dc:creator>Aditya Kumar</dc:creator>
  <cp:lastModifiedBy>Aditya Kumar</cp:lastModifiedBy>
  <cp:revision>9</cp:revision>
  <dcterms:created xsi:type="dcterms:W3CDTF">2006-08-16T00:00:00Z</dcterms:created>
  <dcterms:modified xsi:type="dcterms:W3CDTF">2026-04-05T16:36:46Z</dcterms:modified>
  <dc:identifier>DAHF_yCmYl4</dc:identifier>
</cp:coreProperties>
</file>